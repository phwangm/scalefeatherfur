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0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390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30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6994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57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897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440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943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4671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022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0404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06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2C171-DD67-4A5F-8790-1F25FFB2E100}" type="datetimeFigureOut">
              <a:rPr lang="zh-TW" altLang="en-US" smtClean="0"/>
              <a:t>2025/9/24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EF7F2B7-EDC7-43EA-83C9-DBDA4EEA1C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4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4AC860-4FF3-0FC0-C046-3FA7B8C9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To-do list</a:t>
            </a:r>
            <a:endParaRPr lang="zh-TW" altLang="en-US" dirty="0"/>
          </a:p>
        </p:txBody>
      </p:sp>
      <p:graphicFrame>
        <p:nvGraphicFramePr>
          <p:cNvPr id="11" name="內容版面配置區 10">
            <a:extLst>
              <a:ext uri="{FF2B5EF4-FFF2-40B4-BE49-F238E27FC236}">
                <a16:creationId xmlns:a16="http://schemas.microsoft.com/office/drawing/2014/main" id="{38177C85-DA6C-EEEE-9BB6-DEC72B0B6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045962"/>
              </p:ext>
            </p:extLst>
          </p:nvPr>
        </p:nvGraphicFramePr>
        <p:xfrm>
          <a:off x="730220" y="1477941"/>
          <a:ext cx="8032780" cy="4442724"/>
        </p:xfrm>
        <a:graphic>
          <a:graphicData uri="http://schemas.openxmlformats.org/drawingml/2006/table">
            <a:tbl>
              <a:tblPr/>
              <a:tblGrid>
                <a:gridCol w="1062511">
                  <a:extLst>
                    <a:ext uri="{9D8B030D-6E8A-4147-A177-3AD203B41FA5}">
                      <a16:colId xmlns:a16="http://schemas.microsoft.com/office/drawing/2014/main" val="911383867"/>
                    </a:ext>
                  </a:extLst>
                </a:gridCol>
                <a:gridCol w="1224839">
                  <a:extLst>
                    <a:ext uri="{9D8B030D-6E8A-4147-A177-3AD203B41FA5}">
                      <a16:colId xmlns:a16="http://schemas.microsoft.com/office/drawing/2014/main" val="2417400154"/>
                    </a:ext>
                  </a:extLst>
                </a:gridCol>
                <a:gridCol w="2577573">
                  <a:extLst>
                    <a:ext uri="{9D8B030D-6E8A-4147-A177-3AD203B41FA5}">
                      <a16:colId xmlns:a16="http://schemas.microsoft.com/office/drawing/2014/main" val="122946883"/>
                    </a:ext>
                  </a:extLst>
                </a:gridCol>
                <a:gridCol w="3167857">
                  <a:extLst>
                    <a:ext uri="{9D8B030D-6E8A-4147-A177-3AD203B41FA5}">
                      <a16:colId xmlns:a16="http://schemas.microsoft.com/office/drawing/2014/main" val="2497612687"/>
                    </a:ext>
                  </a:extLst>
                </a:gridCol>
              </a:tblGrid>
              <a:tr h="2610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Priority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Function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Detail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Note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783650"/>
                  </a:ext>
                </a:extLst>
              </a:tr>
              <a:tr h="2610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High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UI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399523"/>
                  </a:ext>
                </a:extLst>
              </a:tr>
              <a:tr h="261003"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High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Species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386970"/>
                  </a:ext>
                </a:extLst>
              </a:tr>
              <a:tr h="261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Pet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835792"/>
                  </a:ext>
                </a:extLst>
              </a:tr>
              <a:tr h="261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weather/UV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468477"/>
                  </a:ext>
                </a:extLst>
              </a:tr>
              <a:tr h="261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care_log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0848"/>
                  </a:ext>
                </a:extLst>
              </a:tr>
              <a:tr h="261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env_reading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859433"/>
                  </a:ext>
                </a:extLst>
              </a:tr>
              <a:tr h="261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Alarm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775004"/>
                  </a:ext>
                </a:extLst>
              </a:tr>
              <a:tr h="46949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Rule (Recommendation)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YAML.json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 need to be added.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2255"/>
                  </a:ext>
                </a:extLst>
              </a:tr>
              <a:tr h="261003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Product_link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865241"/>
                  </a:ext>
                </a:extLst>
              </a:tr>
              <a:tr h="261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Article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506487"/>
                  </a:ext>
                </a:extLst>
              </a:tr>
              <a:tr h="261003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Carepoint_transaction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474670"/>
                  </a:ext>
                </a:extLst>
              </a:tr>
              <a:tr h="261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Quest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767982"/>
                  </a:ext>
                </a:extLst>
              </a:tr>
              <a:tr h="26100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Quest_log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063406"/>
                  </a:ext>
                </a:extLst>
              </a:tr>
              <a:tr h="2610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Database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Society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</a:rPr>
                        <a:t>　</a:t>
                      </a:r>
                    </a:p>
                  </a:txBody>
                  <a:tcPr marL="9482" marR="9482" marT="948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4031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89D23FEA-F6A7-BE05-FDD0-B88BD86B8EB9}"/>
              </a:ext>
            </a:extLst>
          </p:cNvPr>
          <p:cNvSpPr txBox="1"/>
          <p:nvPr/>
        </p:nvSpPr>
        <p:spPr>
          <a:xfrm>
            <a:off x="8763000" y="1633227"/>
            <a:ext cx="287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</a:rPr>
              <a:t>需要畫幾張圖給我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07FCD47-0AE3-1CA0-7048-019CB37EF1A4}"/>
              </a:ext>
            </a:extLst>
          </p:cNvPr>
          <p:cNvSpPr txBox="1"/>
          <p:nvPr/>
        </p:nvSpPr>
        <p:spPr>
          <a:xfrm>
            <a:off x="8763000" y="3638446"/>
            <a:ext cx="2876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</a:rPr>
              <a:t>需要獸醫師給兩三個規則，請參照</a:t>
            </a:r>
            <a:r>
              <a:rPr lang="en-US" altLang="zh-TW" dirty="0">
                <a:highlight>
                  <a:srgbClr val="FFFF00"/>
                </a:highlight>
              </a:rPr>
              <a:t>YAML</a:t>
            </a:r>
            <a:r>
              <a:rPr lang="zh-TW" altLang="en-US" dirty="0">
                <a:highlight>
                  <a:srgbClr val="FFFF00"/>
                </a:highlight>
              </a:rPr>
              <a:t>那個頁面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F5510F8-F22A-597E-0229-D3657DDD8112}"/>
              </a:ext>
            </a:extLst>
          </p:cNvPr>
          <p:cNvSpPr txBox="1"/>
          <p:nvPr/>
        </p:nvSpPr>
        <p:spPr>
          <a:xfrm>
            <a:off x="161925" y="5010727"/>
            <a:ext cx="287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</a:rPr>
              <a:t>排一下優先度</a:t>
            </a:r>
          </a:p>
        </p:txBody>
      </p:sp>
    </p:spTree>
    <p:extLst>
      <p:ext uri="{BB962C8B-B14F-4D97-AF65-F5344CB8AC3E}">
        <p14:creationId xmlns:p14="http://schemas.microsoft.com/office/powerpoint/2010/main" val="3142892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C6393B2-D319-AEA4-3A13-E7D0B4BE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我</a:t>
            </a:r>
            <a:r>
              <a:rPr lang="zh-TW" altLang="zh-TW" b="1" dirty="0"/>
              <a:t>們的解決方案：一個完整的照護生態系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41C29E7-DA39-DFDB-EAE8-03F4F4697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455" y="1477941"/>
            <a:ext cx="9603275" cy="1049236"/>
          </a:xfrm>
        </p:spPr>
        <p:txBody>
          <a:bodyPr>
            <a:normAutofit/>
          </a:bodyPr>
          <a:lstStyle/>
          <a:p>
            <a:r>
              <a:rPr lang="zh-TW" altLang="zh-TW" b="1" dirty="0"/>
              <a:t>對飼主而言：</a:t>
            </a:r>
            <a:r>
              <a:rPr lang="zh-TW" altLang="zh-TW" dirty="0"/>
              <a:t> 您可以為您的寵物</a:t>
            </a:r>
            <a:r>
              <a:rPr lang="en-US" altLang="zh-TW" dirty="0"/>
              <a:t>——</a:t>
            </a:r>
            <a:r>
              <a:rPr lang="zh-TW" altLang="zh-TW" dirty="0"/>
              <a:t>我們假設是一隻蘇卡達烏龜</a:t>
            </a:r>
            <a:r>
              <a:rPr lang="en-US" altLang="zh-TW" dirty="0"/>
              <a:t>——</a:t>
            </a:r>
            <a:r>
              <a:rPr lang="zh-TW" altLang="zh-TW" dirty="0"/>
              <a:t>建立詳細的檔案。您輸入牠的年齡、所在地點、飼養環境類型、飲食內容，以及日曬時長。</a:t>
            </a:r>
          </a:p>
          <a:p>
            <a:endParaRPr lang="zh-TW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6505EB5-9EEC-6CB9-EF5B-D7919A88A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567982"/>
              </p:ext>
            </p:extLst>
          </p:nvPr>
        </p:nvGraphicFramePr>
        <p:xfrm>
          <a:off x="387350" y="2310114"/>
          <a:ext cx="114172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883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2040467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2749551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918632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1902883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1902883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Key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簡單專名</a:t>
                      </a:r>
                      <a:r>
                        <a:rPr lang="en-US" altLang="zh-TW" dirty="0"/>
                        <a:t>ID)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Common_name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Scientific_name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Notes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'sulcata'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'</a:t>
                      </a:r>
                      <a:r>
                        <a:rPr lang="zh-TW" altLang="en-US" dirty="0"/>
                        <a:t>蘇卡達象龜</a:t>
                      </a:r>
                      <a:r>
                        <a:rPr lang="en-US" altLang="zh-TW" dirty="0"/>
                        <a:t>'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'</a:t>
                      </a:r>
                      <a:r>
                        <a:rPr lang="en-US" altLang="zh-TW" dirty="0" err="1"/>
                        <a:t>Centrochelys</a:t>
                      </a:r>
                      <a:r>
                        <a:rPr lang="en-US" altLang="zh-TW" dirty="0"/>
                        <a:t> sulcata'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****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2025/9/24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2025/9/24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FEE134C-8683-0437-997B-0E8C90C95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059913"/>
              </p:ext>
            </p:extLst>
          </p:nvPr>
        </p:nvGraphicFramePr>
        <p:xfrm>
          <a:off x="42204" y="4369139"/>
          <a:ext cx="12149796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6000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913146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4191625542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087477266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9302612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Key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專用</a:t>
                      </a:r>
                      <a:r>
                        <a:rPr lang="en-US" altLang="zh-TW" dirty="0"/>
                        <a:t>ID)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Specific_key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Birth_date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Location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Habitat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Avatar_uri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'pet_001'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“</a:t>
                      </a:r>
                      <a:r>
                        <a:rPr lang="zh-TW" altLang="en-US" dirty="0"/>
                        <a:t>龜龜</a:t>
                      </a:r>
                      <a:r>
                        <a:rPr lang="en-US" altLang="zh-TW" dirty="0"/>
                        <a:t>”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‘sulcata’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Outdoor_sun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photo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'pet_002'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“</a:t>
                      </a:r>
                      <a:r>
                        <a:rPr lang="zh-TW" altLang="en-US" dirty="0"/>
                        <a:t>小龜</a:t>
                      </a:r>
                      <a:r>
                        <a:rPr lang="en-US" altLang="zh-TW" dirty="0"/>
                        <a:t>”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‘unknown’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Outdoor_sun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photo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50A927A2-7E58-BFAC-AFD4-D254841FE70E}"/>
              </a:ext>
            </a:extLst>
          </p:cNvPr>
          <p:cNvSpPr/>
          <p:nvPr/>
        </p:nvSpPr>
        <p:spPr>
          <a:xfrm>
            <a:off x="400050" y="2286000"/>
            <a:ext cx="1943100" cy="15585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C32F0D-2219-27D7-4AF6-487CD6E58B92}"/>
              </a:ext>
            </a:extLst>
          </p:cNvPr>
          <p:cNvSpPr/>
          <p:nvPr/>
        </p:nvSpPr>
        <p:spPr>
          <a:xfrm>
            <a:off x="2419350" y="4369139"/>
            <a:ext cx="1714500" cy="20218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4DE56BB8-59D0-2EFA-73DE-C193E2C025A7}"/>
              </a:ext>
            </a:extLst>
          </p:cNvPr>
          <p:cNvCxnSpPr>
            <a:cxnSpLocks/>
            <a:stCxn id="13" idx="0"/>
            <a:endCxn id="12" idx="2"/>
          </p:cNvCxnSpPr>
          <p:nvPr/>
        </p:nvCxnSpPr>
        <p:spPr>
          <a:xfrm rot="16200000" flipV="1">
            <a:off x="2061791" y="3154330"/>
            <a:ext cx="524618" cy="19050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C92C463-A3D9-0351-768C-F6A6E393BE09}"/>
              </a:ext>
            </a:extLst>
          </p:cNvPr>
          <p:cNvSpPr txBox="1"/>
          <p:nvPr/>
        </p:nvSpPr>
        <p:spPr>
          <a:xfrm>
            <a:off x="3752850" y="5600700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highlight>
                  <a:srgbClr val="FFFF00"/>
                </a:highlight>
              </a:rPr>
              <a:t>這會有問題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B0C744E-9B60-E451-7B46-1F756818901C}"/>
              </a:ext>
            </a:extLst>
          </p:cNvPr>
          <p:cNvSpPr txBox="1"/>
          <p:nvPr/>
        </p:nvSpPr>
        <p:spPr>
          <a:xfrm>
            <a:off x="0" y="1842007"/>
            <a:ext cx="424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Species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8390E4A-FAEB-994F-F504-9B9359CB0B2A}"/>
              </a:ext>
            </a:extLst>
          </p:cNvPr>
          <p:cNvSpPr txBox="1"/>
          <p:nvPr/>
        </p:nvSpPr>
        <p:spPr>
          <a:xfrm>
            <a:off x="42204" y="3974284"/>
            <a:ext cx="424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Pet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9144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C8C8F6-401F-1AEC-EA49-3AD6735E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我們的解決方案：一個完整的照護生態系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3FFB98-71CA-8E52-5751-6284C850E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69" y="1560866"/>
            <a:ext cx="9603275" cy="3294576"/>
          </a:xfrm>
        </p:spPr>
        <p:txBody>
          <a:bodyPr/>
          <a:lstStyle/>
          <a:p>
            <a:r>
              <a:rPr lang="zh-TW" altLang="zh-TW" dirty="0"/>
              <a:t>「根據今天台北的天氣，紫外線指數過高，不建議讓您的烏龜外出曝曬。」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zh-TW" altLang="zh-TW" dirty="0"/>
              <a:t>但我們能做得更深入。根據您的餵食紀錄</a:t>
            </a:r>
            <a:r>
              <a:rPr lang="en-US" altLang="zh-TW" dirty="0"/>
              <a:t>(</a:t>
            </a:r>
            <a:r>
              <a:rPr lang="zh-TW" altLang="zh-TW" dirty="0"/>
              <a:t>有哪些重要的元素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-&gt;</a:t>
            </a:r>
            <a:r>
              <a:rPr lang="zh-TW" altLang="en-US" dirty="0">
                <a:highlight>
                  <a:srgbClr val="FFFF00"/>
                </a:highlight>
              </a:rPr>
              <a:t>自動化</a:t>
            </a:r>
            <a:r>
              <a:rPr lang="en-US" altLang="zh-TW" dirty="0">
                <a:highlight>
                  <a:srgbClr val="FFFF00"/>
                </a:highlight>
              </a:rPr>
              <a:t>?</a:t>
            </a:r>
            <a:endParaRPr lang="zh-TW" altLang="zh-TW" dirty="0">
              <a:highlight>
                <a:srgbClr val="FFFF00"/>
              </a:highlight>
            </a:endParaRP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0A7A0D8-6FDF-2364-3DEA-84C0A9BAE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138809"/>
              </p:ext>
            </p:extLst>
          </p:nvPr>
        </p:nvGraphicFramePr>
        <p:xfrm>
          <a:off x="387349" y="2416091"/>
          <a:ext cx="114173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4700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2808515">
                  <a:extLst>
                    <a:ext uri="{9D8B030D-6E8A-4147-A177-3AD203B41FA5}">
                      <a16:colId xmlns:a16="http://schemas.microsoft.com/office/drawing/2014/main" val="3711918270"/>
                    </a:ext>
                  </a:extLst>
                </a:gridCol>
                <a:gridCol w="1631043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1631043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Location_key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Uvi_max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Raw_json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Taipei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2025/9/24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存放</a:t>
                      </a:r>
                      <a:r>
                        <a:rPr lang="en-US" altLang="zh-TW" dirty="0"/>
                        <a:t>API</a:t>
                      </a:r>
                      <a:r>
                        <a:rPr lang="zh-TW" altLang="en-US" dirty="0"/>
                        <a:t>拉回來的資料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2025/9/24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2025/9/24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8BE9261-9C11-B405-55B3-63082FF527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035778"/>
              </p:ext>
            </p:extLst>
          </p:nvPr>
        </p:nvGraphicFramePr>
        <p:xfrm>
          <a:off x="0" y="4312364"/>
          <a:ext cx="12020550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07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949915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2426841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1704806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1154837">
                  <a:extLst>
                    <a:ext uri="{9D8B030D-6E8A-4147-A177-3AD203B41FA5}">
                      <a16:colId xmlns:a16="http://schemas.microsoft.com/office/drawing/2014/main" val="3711918270"/>
                    </a:ext>
                  </a:extLst>
                </a:gridCol>
                <a:gridCol w="1532739">
                  <a:extLst>
                    <a:ext uri="{9D8B030D-6E8A-4147-A177-3AD203B41FA5}">
                      <a16:colId xmlns:a16="http://schemas.microsoft.com/office/drawing/2014/main" val="664172714"/>
                    </a:ext>
                  </a:extLst>
                </a:gridCol>
                <a:gridCol w="1684749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1912056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Pet 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'pet_001'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僅能填寫</a:t>
                      </a:r>
                      <a:r>
                        <a:rPr lang="en-US" altLang="zh-TW" dirty="0"/>
                        <a:t>”</a:t>
                      </a:r>
                      <a:r>
                        <a:rPr lang="en-US" altLang="zh-TW" dirty="0" err="1"/>
                        <a:t>feed”,”calcium</a:t>
                      </a:r>
                      <a:r>
                        <a:rPr lang="en-US" altLang="zh-TW" dirty="0"/>
                        <a:t>”, “</a:t>
                      </a:r>
                      <a:r>
                        <a:rPr lang="en-US" altLang="zh-TW" dirty="0" err="1"/>
                        <a:t>uvb_on</a:t>
                      </a:r>
                      <a:r>
                        <a:rPr lang="en-US" altLang="zh-TW" dirty="0"/>
                        <a:t>”, “</a:t>
                      </a:r>
                      <a:r>
                        <a:rPr lang="en-US" altLang="zh-TW" dirty="0" err="1"/>
                        <a:t>uvb_off”,”weigh</a:t>
                      </a:r>
                      <a:r>
                        <a:rPr lang="en-US" altLang="zh-TW" dirty="0"/>
                        <a:t>”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Gram/weight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事件發生時間 </a:t>
                      </a:r>
                      <a:r>
                        <a:rPr lang="en-US" altLang="zh-TW" dirty="0"/>
                        <a:t>(ISO8601</a:t>
                      </a:r>
                      <a:r>
                        <a:rPr lang="zh-TW" altLang="en-US" dirty="0"/>
                        <a:t>格式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9728BC82-8921-6901-9764-935E8D1BA616}"/>
              </a:ext>
            </a:extLst>
          </p:cNvPr>
          <p:cNvSpPr txBox="1"/>
          <p:nvPr/>
        </p:nvSpPr>
        <p:spPr>
          <a:xfrm>
            <a:off x="59163" y="3978392"/>
            <a:ext cx="72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Care log: </a:t>
            </a:r>
            <a:r>
              <a:rPr lang="zh-TW" altLang="en-US" dirty="0"/>
              <a:t>餵食紀錄、曬太陽紀錄、體重紀錄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0D66B7D-6348-71B8-0D8E-02D349021159}"/>
              </a:ext>
            </a:extLst>
          </p:cNvPr>
          <p:cNvSpPr txBox="1"/>
          <p:nvPr/>
        </p:nvSpPr>
        <p:spPr>
          <a:xfrm>
            <a:off x="59163" y="2007608"/>
            <a:ext cx="424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Weather/UV: </a:t>
            </a:r>
            <a:r>
              <a:rPr lang="zh-TW" altLang="en-US" dirty="0"/>
              <a:t>天氣</a:t>
            </a:r>
            <a:r>
              <a:rPr lang="en-US" altLang="zh-TW" dirty="0"/>
              <a:t>/UV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203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754803-BC35-1D86-01F1-EC301DAA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我們的解決方案：一個完整的照護生態系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DA583E-1426-4F2E-3477-1B52B8785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2171769"/>
            <a:ext cx="9603275" cy="1049235"/>
          </a:xfrm>
        </p:spPr>
        <p:txBody>
          <a:bodyPr/>
          <a:lstStyle/>
          <a:p>
            <a:r>
              <a:rPr lang="zh-TW" altLang="en-US" dirty="0"/>
              <a:t>寵物的環境狀態 </a:t>
            </a:r>
            <a:r>
              <a:rPr lang="en-US" altLang="zh-TW" dirty="0"/>
              <a:t>(</a:t>
            </a:r>
            <a:r>
              <a:rPr lang="zh-TW" altLang="en-US" dirty="0"/>
              <a:t>手動紀錄 </a:t>
            </a:r>
            <a:r>
              <a:rPr lang="en-US" altLang="zh-TW" dirty="0"/>
              <a:t>-&gt; </a:t>
            </a:r>
            <a:r>
              <a:rPr lang="zh-TW" altLang="en-US" dirty="0"/>
              <a:t>環境感測器</a:t>
            </a:r>
            <a:r>
              <a:rPr lang="en-US" altLang="zh-TW" dirty="0"/>
              <a:t>?)</a:t>
            </a:r>
            <a:r>
              <a:rPr lang="zh-TW" altLang="en-US" dirty="0"/>
              <a:t> </a:t>
            </a:r>
            <a:r>
              <a:rPr lang="en-US" altLang="zh-TW" dirty="0"/>
              <a:t>-&gt; </a:t>
            </a:r>
            <a:r>
              <a:rPr lang="zh-TW" altLang="en-US" dirty="0">
                <a:highlight>
                  <a:srgbClr val="FFFF00"/>
                </a:highlight>
              </a:rPr>
              <a:t>有什麼東西可以自動化</a:t>
            </a:r>
            <a:r>
              <a:rPr lang="en-US" altLang="zh-TW" dirty="0">
                <a:highlight>
                  <a:srgbClr val="FFFF00"/>
                </a:highlight>
              </a:rPr>
              <a:t>?</a:t>
            </a:r>
          </a:p>
          <a:p>
            <a:endParaRPr lang="en-US" altLang="zh-TW" dirty="0">
              <a:highlight>
                <a:srgbClr val="FFFF00"/>
              </a:highlight>
            </a:endParaRPr>
          </a:p>
          <a:p>
            <a:endParaRPr lang="en-US" altLang="zh-TW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A9CA0DD-D5B7-AAB6-13CF-0E24346EB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8811"/>
              </p:ext>
            </p:extLst>
          </p:nvPr>
        </p:nvGraphicFramePr>
        <p:xfrm>
          <a:off x="85725" y="2696386"/>
          <a:ext cx="1202055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07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949915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186303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711918270"/>
                    </a:ext>
                  </a:extLst>
                </a:gridCol>
                <a:gridCol w="2546820">
                  <a:extLst>
                    <a:ext uri="{9D8B030D-6E8A-4147-A177-3AD203B41FA5}">
                      <a16:colId xmlns:a16="http://schemas.microsoft.com/office/drawing/2014/main" val="664172714"/>
                    </a:ext>
                  </a:extLst>
                </a:gridCol>
                <a:gridCol w="1684749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1912056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Pet 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Temp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Humidity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Lux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'pet_001'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測量時間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24 degree 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26%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照度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5301DC3F-0B8D-5CA4-A190-7AAE5C647E6A}"/>
              </a:ext>
            </a:extLst>
          </p:cNvPr>
          <p:cNvSpPr txBox="1"/>
          <p:nvPr/>
        </p:nvSpPr>
        <p:spPr>
          <a:xfrm>
            <a:off x="85725" y="1864467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Env_reading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6296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748BCF-4A7D-20C0-6885-BFA7662D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我們的解決方案：一個完整的照護生態系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A17F63-F46D-63D3-2C45-0B51E4B39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69" y="1647151"/>
            <a:ext cx="9603275" cy="1049235"/>
          </a:xfrm>
        </p:spPr>
        <p:txBody>
          <a:bodyPr/>
          <a:lstStyle/>
          <a:p>
            <a:r>
              <a:rPr lang="en-US" altLang="zh-TW" dirty="0"/>
              <a:t>App </a:t>
            </a:r>
            <a:r>
              <a:rPr lang="zh-TW" altLang="zh-TW" dirty="0"/>
              <a:t>可能會提醒您：</a:t>
            </a:r>
            <a:r>
              <a:rPr lang="zh-TW" altLang="zh-TW" b="1" dirty="0"/>
              <a:t>「警示：您的守宮本週鈣粉攝取量似乎偏低，請記得在餵食時添加。」而就在這個提醒旁邊，我們可以呈現一個受獸醫信賴的鈣粉品牌。</a:t>
            </a:r>
            <a:endParaRPr lang="zh-TW" altLang="zh-TW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70F03D-6977-4A23-2002-42E901164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079144"/>
              </p:ext>
            </p:extLst>
          </p:nvPr>
        </p:nvGraphicFramePr>
        <p:xfrm>
          <a:off x="85725" y="2696386"/>
          <a:ext cx="1202055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162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879063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1029935">
                  <a:extLst>
                    <a:ext uri="{9D8B030D-6E8A-4147-A177-3AD203B41FA5}">
                      <a16:colId xmlns:a16="http://schemas.microsoft.com/office/drawing/2014/main" val="3711918270"/>
                    </a:ext>
                  </a:extLst>
                </a:gridCol>
                <a:gridCol w="1884715">
                  <a:extLst>
                    <a:ext uri="{9D8B030D-6E8A-4147-A177-3AD203B41FA5}">
                      <a16:colId xmlns:a16="http://schemas.microsoft.com/office/drawing/2014/main" val="664172714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4273522604"/>
                    </a:ext>
                  </a:extLst>
                </a:gridCol>
                <a:gridCol w="1441655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1577770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Pet 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Severity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Code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Title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body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Recommended_product_ids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'pet_001'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‘info’,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‘warn’,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‘critical’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“UVI_TOO_HIGH”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'</a:t>
                      </a:r>
                      <a:r>
                        <a:rPr lang="zh-TW" altLang="en-US" dirty="0"/>
                        <a:t>今日紫外線偏高</a:t>
                      </a:r>
                      <a:r>
                        <a:rPr lang="en-US" altLang="zh-TW" dirty="0"/>
                        <a:t>'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'</a:t>
                      </a:r>
                      <a:r>
                        <a:rPr lang="zh-TW" altLang="en-US" dirty="0"/>
                        <a:t>台北今日 </a:t>
                      </a:r>
                      <a:r>
                        <a:rPr lang="en-US" altLang="zh-TW" dirty="0"/>
                        <a:t>UVI </a:t>
                      </a:r>
                      <a:r>
                        <a:rPr lang="zh-TW" altLang="en-US" dirty="0"/>
                        <a:t>達 </a:t>
                      </a:r>
                      <a:r>
                        <a:rPr lang="en-US" altLang="zh-TW" dirty="0"/>
                        <a:t>9.1</a:t>
                      </a:r>
                      <a:r>
                        <a:rPr lang="zh-TW" altLang="en-US" dirty="0"/>
                        <a:t>，請避免正午戶外曝曬，改用 </a:t>
                      </a:r>
                      <a:r>
                        <a:rPr lang="en-US" altLang="zh-TW" dirty="0"/>
                        <a:t>UVB </a:t>
                      </a:r>
                      <a:r>
                        <a:rPr lang="zh-TW" altLang="en-US" dirty="0"/>
                        <a:t>燈並加強遮陰與補水。</a:t>
                      </a:r>
                      <a:r>
                        <a:rPr lang="en-US" altLang="zh-TW" dirty="0"/>
                        <a:t>'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altLang="zh-TW" dirty="0"/>
                        <a:t>["uvb_t5_12pct","calcium_powder_x"]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DD3AA4E7-2FD2-5857-FA04-D2C593009E4C}"/>
              </a:ext>
            </a:extLst>
          </p:cNvPr>
          <p:cNvSpPr txBox="1"/>
          <p:nvPr/>
        </p:nvSpPr>
        <p:spPr>
          <a:xfrm>
            <a:off x="85725" y="2190750"/>
            <a:ext cx="1044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Alarm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0434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9D61A4-E625-DDC9-7596-1784115B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Rule: </a:t>
            </a:r>
            <a:r>
              <a:rPr lang="zh-TW" altLang="en-US" dirty="0"/>
              <a:t>自己建立規則檔案或者</a:t>
            </a:r>
            <a:r>
              <a:rPr lang="en-US" altLang="zh-TW" dirty="0"/>
              <a:t>AI(AI</a:t>
            </a:r>
            <a:r>
              <a:rPr lang="zh-TW" altLang="en-US" dirty="0"/>
              <a:t> 還不會做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2155887-7CAE-4666-2A50-27781F8A2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68432"/>
              </p:ext>
            </p:extLst>
          </p:nvPr>
        </p:nvGraphicFramePr>
        <p:xfrm>
          <a:off x="185737" y="1676400"/>
          <a:ext cx="1182052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624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2276302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Specific_key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yaml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Is_enabled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‘sulcata’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規則檔案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True or false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244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385F8A-F14F-A98E-0403-E0F83319E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YAML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FDD0C44-FFA7-36A0-CC76-4509D138F986}"/>
              </a:ext>
            </a:extLst>
          </p:cNvPr>
          <p:cNvSpPr txBox="1"/>
          <p:nvPr/>
        </p:nvSpPr>
        <p:spPr>
          <a:xfrm>
            <a:off x="154569" y="1934358"/>
            <a:ext cx="97774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id: CALCIUM_LOW_WEEKLY</a:t>
            </a:r>
          </a:p>
          <a:p>
            <a:r>
              <a:rPr lang="zh-TW" altLang="en-US" dirty="0"/>
              <a:t>version: 1</a:t>
            </a:r>
          </a:p>
          <a:p>
            <a:r>
              <a:rPr lang="zh-TW" altLang="en-US" dirty="0"/>
              <a:t>applies_to:</a:t>
            </a:r>
          </a:p>
          <a:p>
            <a:r>
              <a:rPr lang="zh-TW" altLang="en-US" dirty="0"/>
              <a:t>  species: leopard_gecko</a:t>
            </a:r>
          </a:p>
          <a:p>
            <a:r>
              <a:rPr lang="zh-TW" altLang="en-US" dirty="0"/>
              <a:t>when:</a:t>
            </a:r>
          </a:p>
          <a:p>
            <a:r>
              <a:rPr lang="zh-TW" altLang="en-US" dirty="0"/>
              <a:t>  calcium_times_in_days:</a:t>
            </a:r>
          </a:p>
          <a:p>
            <a:r>
              <a:rPr lang="zh-TW" altLang="en-US" dirty="0"/>
              <a:t>    days: 7</a:t>
            </a:r>
          </a:p>
          <a:p>
            <a:r>
              <a:rPr lang="zh-TW" altLang="en-US" dirty="0"/>
              <a:t>    lt: 2                  # 一週補鈣少於 2 次</a:t>
            </a:r>
          </a:p>
          <a:p>
            <a:r>
              <a:rPr lang="zh-TW" altLang="en-US" dirty="0"/>
              <a:t>then:</a:t>
            </a:r>
          </a:p>
          <a:p>
            <a:r>
              <a:rPr lang="zh-TW" altLang="en-US" dirty="0"/>
              <a:t>  severity: info</a:t>
            </a:r>
          </a:p>
          <a:p>
            <a:r>
              <a:rPr lang="zh-TW" altLang="en-US" dirty="0"/>
              <a:t>  code: CALCIUM_LOW</a:t>
            </a:r>
          </a:p>
          <a:p>
            <a:r>
              <a:rPr lang="zh-TW" altLang="en-US" dirty="0"/>
              <a:t>  title: 本週補鈣次數偏低</a:t>
            </a:r>
          </a:p>
          <a:p>
            <a:r>
              <a:rPr lang="zh-TW" altLang="en-US" dirty="0"/>
              <a:t>  body: 最近 7 天僅補鈣 {{calcium_times_7d}} 次。請於下次餵食時補充鈣粉。</a:t>
            </a:r>
          </a:p>
          <a:p>
            <a:r>
              <a:rPr lang="zh-TW" altLang="en-US" dirty="0"/>
              <a:t>  recommended_product_ids: [calcium_powder_x]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CBC42BA-014E-3CAD-B893-E00750366940}"/>
              </a:ext>
            </a:extLst>
          </p:cNvPr>
          <p:cNvSpPr txBox="1"/>
          <p:nvPr/>
        </p:nvSpPr>
        <p:spPr>
          <a:xfrm>
            <a:off x="5931907" y="295692"/>
            <a:ext cx="610552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id: UVI_TOO_HIGH</a:t>
            </a:r>
          </a:p>
          <a:p>
            <a:r>
              <a:rPr lang="zh-TW" altLang="en-US" dirty="0"/>
              <a:t>version: 1</a:t>
            </a:r>
          </a:p>
          <a:p>
            <a:r>
              <a:rPr lang="zh-TW" altLang="en-US" dirty="0"/>
              <a:t>applies_to:</a:t>
            </a:r>
          </a:p>
          <a:p>
            <a:r>
              <a:rPr lang="zh-TW" altLang="en-US" dirty="0"/>
              <a:t>  species: sulcata          # 或留空表示通用</a:t>
            </a:r>
          </a:p>
          <a:p>
            <a:r>
              <a:rPr lang="zh-TW" altLang="en-US" dirty="0"/>
              <a:t>when:</a:t>
            </a:r>
          </a:p>
          <a:p>
            <a:r>
              <a:rPr lang="zh-TW" altLang="en-US" dirty="0"/>
              <a:t>  uvi_max_gte: 8            # 今日最大 UVI &gt;= 8</a:t>
            </a:r>
          </a:p>
          <a:p>
            <a:r>
              <a:rPr lang="zh-TW" altLang="en-US" dirty="0"/>
              <a:t>  habitat_in: [outdoor_sun, mixed]</a:t>
            </a:r>
          </a:p>
          <a:p>
            <a:r>
              <a:rPr lang="zh-TW" altLang="en-US" dirty="0"/>
              <a:t>then:</a:t>
            </a:r>
          </a:p>
          <a:p>
            <a:r>
              <a:rPr lang="zh-TW" altLang="en-US" dirty="0"/>
              <a:t>  severity: warn</a:t>
            </a:r>
          </a:p>
          <a:p>
            <a:r>
              <a:rPr lang="zh-TW" altLang="en-US" dirty="0"/>
              <a:t>  code: UVI_TOO_HIGH</a:t>
            </a:r>
          </a:p>
          <a:p>
            <a:r>
              <a:rPr lang="zh-TW" altLang="en-US" dirty="0"/>
              <a:t>  title: 今日紫外線偏高</a:t>
            </a:r>
          </a:p>
          <a:p>
            <a:r>
              <a:rPr lang="zh-TW" altLang="en-US" dirty="0"/>
              <a:t>  body: 台北今日 UVI 達到 {{uvi_max}}。請避免正午曝曬，改用 UVB 燈與遮陰措施。</a:t>
            </a:r>
          </a:p>
          <a:p>
            <a:r>
              <a:rPr lang="zh-TW" altLang="en-US" dirty="0"/>
              <a:t>  recommended_product_ids: [uvb_t5_12pct, shade_canopy]</a:t>
            </a:r>
          </a:p>
        </p:txBody>
      </p:sp>
    </p:spTree>
    <p:extLst>
      <p:ext uri="{BB962C8B-B14F-4D97-AF65-F5344CB8AC3E}">
        <p14:creationId xmlns:p14="http://schemas.microsoft.com/office/powerpoint/2010/main" val="1313955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BCE290-8CF9-9B8D-F6ED-46F29BC83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320" y="990669"/>
            <a:ext cx="9603275" cy="3294576"/>
          </a:xfrm>
        </p:spPr>
        <p:txBody>
          <a:bodyPr/>
          <a:lstStyle/>
          <a:p>
            <a:r>
              <a:rPr lang="zh-TW" altLang="zh-TW" b="1" dirty="0"/>
              <a:t>最適合您烏龜需求的特定</a:t>
            </a:r>
            <a:r>
              <a:rPr lang="en-US" altLang="zh-TW" b="1" dirty="0"/>
              <a:t>UVB</a:t>
            </a:r>
            <a:r>
              <a:rPr lang="zh-TW" altLang="zh-TW" b="1" dirty="0"/>
              <a:t>燈型號與品牌，附上我們合作夥伴的直接購買連結。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B2A75AB-0B77-5105-785C-33C677DFD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541199"/>
              </p:ext>
            </p:extLst>
          </p:nvPr>
        </p:nvGraphicFramePr>
        <p:xfrm>
          <a:off x="185737" y="1771650"/>
          <a:ext cx="11820524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413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822422263"/>
                    </a:ext>
                  </a:extLst>
                </a:gridCol>
                <a:gridCol w="1095816">
                  <a:extLst>
                    <a:ext uri="{9D8B030D-6E8A-4147-A177-3AD203B41FA5}">
                      <a16:colId xmlns:a16="http://schemas.microsoft.com/office/drawing/2014/main" val="1479218038"/>
                    </a:ext>
                  </a:extLst>
                </a:gridCol>
                <a:gridCol w="2062080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1476015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Brand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Tags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affiliate_url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Region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自訂</a:t>
                      </a:r>
                      <a:r>
                        <a:rPr lang="en-US" altLang="zh-TW" dirty="0"/>
                        <a:t>uvb_t5_12pct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品牌名稱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"</a:t>
                      </a:r>
                      <a:r>
                        <a:rPr lang="en-US" altLang="zh-TW" dirty="0" err="1"/>
                        <a:t>UVB","reptile","sulcata","indoor</a:t>
                      </a:r>
                      <a:r>
                        <a:rPr lang="en-US" altLang="zh-TW" dirty="0"/>
                        <a:t>"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網站連結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地區</a:t>
                      </a:r>
                      <a:r>
                        <a:rPr lang="en-US" altLang="zh-TW" dirty="0"/>
                        <a:t>(TW, US)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FFF37E8-D48A-87B2-A0F1-0A458D280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667847"/>
              </p:ext>
            </p:extLst>
          </p:nvPr>
        </p:nvGraphicFramePr>
        <p:xfrm>
          <a:off x="185737" y="4657286"/>
          <a:ext cx="1182052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062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1259788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469753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2309611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1763703">
                  <a:extLst>
                    <a:ext uri="{9D8B030D-6E8A-4147-A177-3AD203B41FA5}">
                      <a16:colId xmlns:a16="http://schemas.microsoft.com/office/drawing/2014/main" val="2822422263"/>
                    </a:ext>
                  </a:extLst>
                </a:gridCol>
                <a:gridCol w="2272776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1626829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Title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body_md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species_key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tags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文章</a:t>
                      </a: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文章標題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正文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指定物種 </a:t>
                      </a:r>
                      <a:r>
                        <a:rPr lang="en-US" altLang="zh-TW" dirty="0"/>
                        <a:t>or </a:t>
                      </a:r>
                      <a:r>
                        <a:rPr lang="zh-TW" altLang="en-US" dirty="0"/>
                        <a:t>泛用</a:t>
                      </a:r>
                      <a:r>
                        <a:rPr lang="en-US" altLang="zh-TW" dirty="0"/>
                        <a:t>(NULL)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["</a:t>
                      </a:r>
                      <a:r>
                        <a:rPr lang="en-US" altLang="zh-TW" dirty="0" err="1"/>
                        <a:t>UVB","nutrition","beginner</a:t>
                      </a:r>
                      <a:r>
                        <a:rPr lang="en-US" altLang="zh-TW" dirty="0"/>
                        <a:t>"]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FD12143-3566-D032-4404-0465D86BC27D}"/>
              </a:ext>
            </a:extLst>
          </p:cNvPr>
          <p:cNvSpPr txBox="1"/>
          <p:nvPr/>
        </p:nvSpPr>
        <p:spPr>
          <a:xfrm>
            <a:off x="185737" y="1288018"/>
            <a:ext cx="424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product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0746C4-068D-4571-95A1-8716BCCE2480}"/>
              </a:ext>
            </a:extLst>
          </p:cNvPr>
          <p:cNvSpPr txBox="1"/>
          <p:nvPr/>
        </p:nvSpPr>
        <p:spPr>
          <a:xfrm>
            <a:off x="185736" y="4213262"/>
            <a:ext cx="4246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Article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5885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4EB3BD-1C19-3AA9-6427-64B9495BC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320" y="933519"/>
            <a:ext cx="9603275" cy="999617"/>
          </a:xfrm>
        </p:spPr>
        <p:txBody>
          <a:bodyPr/>
          <a:lstStyle/>
          <a:p>
            <a:r>
              <a:rPr lang="zh-TW" altLang="zh-TW" b="1" dirty="0"/>
              <a:t>遊戲化互動與獎勵：</a:t>
            </a:r>
            <a:r>
              <a:rPr lang="zh-TW" altLang="zh-TW" dirty="0"/>
              <a:t> 透過記錄每日的照護任務，您能賺取「</a:t>
            </a:r>
            <a:r>
              <a:rPr lang="en-US" altLang="zh-TW" dirty="0" err="1"/>
              <a:t>CarePoints</a:t>
            </a:r>
            <a:r>
              <a:rPr lang="zh-TW" altLang="zh-TW" dirty="0"/>
              <a:t>」，這些點數可以兌換我們合作廠商的真實商品折扣。</a:t>
            </a: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E72AEC7-3EDD-80DA-985E-EF7840F29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779774"/>
              </p:ext>
            </p:extLst>
          </p:nvPr>
        </p:nvGraphicFramePr>
        <p:xfrm>
          <a:off x="185739" y="1933136"/>
          <a:ext cx="1182052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756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1056626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232731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1937148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1479277">
                  <a:extLst>
                    <a:ext uri="{9D8B030D-6E8A-4147-A177-3AD203B41FA5}">
                      <a16:colId xmlns:a16="http://schemas.microsoft.com/office/drawing/2014/main" val="2822422263"/>
                    </a:ext>
                  </a:extLst>
                </a:gridCol>
                <a:gridCol w="1906254">
                  <a:extLst>
                    <a:ext uri="{9D8B030D-6E8A-4147-A177-3AD203B41FA5}">
                      <a16:colId xmlns:a16="http://schemas.microsoft.com/office/drawing/2014/main" val="2565654848"/>
                    </a:ext>
                  </a:extLst>
                </a:gridCol>
                <a:gridCol w="1627669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1643061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Pet_id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Reason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Delta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Balance_after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交易</a:t>
                      </a: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寵物</a:t>
                      </a: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交易時間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task_complete:calcium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任務獎勵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餘額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7ACED65A-AFE5-F6C6-271D-39AB4351E9B6}"/>
              </a:ext>
            </a:extLst>
          </p:cNvPr>
          <p:cNvSpPr txBox="1"/>
          <p:nvPr/>
        </p:nvSpPr>
        <p:spPr>
          <a:xfrm>
            <a:off x="82520" y="1563804"/>
            <a:ext cx="424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Carepoint_transaction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AD8801B-F6B0-BB61-7CAE-4012187F7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20252"/>
              </p:ext>
            </p:extLst>
          </p:nvPr>
        </p:nvGraphicFramePr>
        <p:xfrm>
          <a:off x="185739" y="4171881"/>
          <a:ext cx="1182052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141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1480721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727509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2714656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2280962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2302532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Title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point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任務代號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UI</a:t>
                      </a:r>
                      <a:r>
                        <a:rPr lang="zh-TW" altLang="en-US" dirty="0"/>
                        <a:t>顯示名稱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任務說明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完成點數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AEFA7D67-D8BF-3899-9994-D08ED93F4FA6}"/>
              </a:ext>
            </a:extLst>
          </p:cNvPr>
          <p:cNvSpPr txBox="1"/>
          <p:nvPr/>
        </p:nvSpPr>
        <p:spPr>
          <a:xfrm>
            <a:off x="82520" y="3802549"/>
            <a:ext cx="424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Quest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8746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6A66-EB48-8519-C566-D0C6CE4EE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6C30A0-AF7E-4F5B-1064-706D624F9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320" y="933519"/>
            <a:ext cx="9603275" cy="999617"/>
          </a:xfrm>
        </p:spPr>
        <p:txBody>
          <a:bodyPr/>
          <a:lstStyle/>
          <a:p>
            <a:r>
              <a:rPr lang="zh-TW" altLang="zh-TW" b="1" dirty="0"/>
              <a:t>遊戲化互動與獎勵：</a:t>
            </a:r>
            <a:r>
              <a:rPr lang="zh-TW" altLang="zh-TW" dirty="0"/>
              <a:t> 透過記錄每日的照護任務，您能賺取「</a:t>
            </a:r>
            <a:r>
              <a:rPr lang="en-US" altLang="zh-TW" dirty="0" err="1"/>
              <a:t>CarePoints</a:t>
            </a:r>
            <a:r>
              <a:rPr lang="zh-TW" altLang="zh-TW" dirty="0"/>
              <a:t>」，這些點數可以兌換我們合作廠商的真實商品折扣。</a:t>
            </a: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DC12D07-EFF3-1675-8D07-1B4ADACDD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090452"/>
              </p:ext>
            </p:extLst>
          </p:nvPr>
        </p:nvGraphicFramePr>
        <p:xfrm>
          <a:off x="185739" y="1933136"/>
          <a:ext cx="113585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82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1422853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659996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2608564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2191819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2212546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Pet_id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Task_key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交易</a:t>
                      </a: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寵物</a:t>
                      </a: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任務列表</a:t>
                      </a:r>
                      <a:r>
                        <a:rPr lang="en-US" altLang="zh-TW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完成時間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D3E7E95F-72D0-F36D-4CAE-27642FFAC9B7}"/>
              </a:ext>
            </a:extLst>
          </p:cNvPr>
          <p:cNvSpPr txBox="1"/>
          <p:nvPr/>
        </p:nvSpPr>
        <p:spPr>
          <a:xfrm>
            <a:off x="82520" y="1563804"/>
            <a:ext cx="424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Quest_log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6501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8B25E6-E3AE-66D9-B503-60846B870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952569"/>
            <a:ext cx="9603275" cy="1257231"/>
          </a:xfrm>
        </p:spPr>
        <p:txBody>
          <a:bodyPr/>
          <a:lstStyle/>
          <a:p>
            <a:r>
              <a:rPr lang="zh-TW" altLang="zh-TW" b="1" dirty="0"/>
              <a:t>真實的社群連結：</a:t>
            </a:r>
            <a:r>
              <a:rPr lang="zh-TW" altLang="zh-TW" dirty="0"/>
              <a:t> 我們使用「每日配對」系統，將您與另一位蘇卡達烏龜的飼主連結起來，促進基於真實經驗的友誼。</a:t>
            </a:r>
          </a:p>
          <a:p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A01ED16-9BCA-0001-7AB8-FD73F5117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528611"/>
              </p:ext>
            </p:extLst>
          </p:nvPr>
        </p:nvGraphicFramePr>
        <p:xfrm>
          <a:off x="185739" y="1933136"/>
          <a:ext cx="113585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82">
                  <a:extLst>
                    <a:ext uri="{9D8B030D-6E8A-4147-A177-3AD203B41FA5}">
                      <a16:colId xmlns:a16="http://schemas.microsoft.com/office/drawing/2014/main" val="31676039"/>
                    </a:ext>
                  </a:extLst>
                </a:gridCol>
                <a:gridCol w="1422853">
                  <a:extLst>
                    <a:ext uri="{9D8B030D-6E8A-4147-A177-3AD203B41FA5}">
                      <a16:colId xmlns:a16="http://schemas.microsoft.com/office/drawing/2014/main" val="2505031736"/>
                    </a:ext>
                  </a:extLst>
                </a:gridCol>
                <a:gridCol w="1659996">
                  <a:extLst>
                    <a:ext uri="{9D8B030D-6E8A-4147-A177-3AD203B41FA5}">
                      <a16:colId xmlns:a16="http://schemas.microsoft.com/office/drawing/2014/main" val="969158938"/>
                    </a:ext>
                  </a:extLst>
                </a:gridCol>
                <a:gridCol w="2608564">
                  <a:extLst>
                    <a:ext uri="{9D8B030D-6E8A-4147-A177-3AD203B41FA5}">
                      <a16:colId xmlns:a16="http://schemas.microsoft.com/office/drawing/2014/main" val="3449250488"/>
                    </a:ext>
                  </a:extLst>
                </a:gridCol>
                <a:gridCol w="2191819">
                  <a:extLst>
                    <a:ext uri="{9D8B030D-6E8A-4147-A177-3AD203B41FA5}">
                      <a16:colId xmlns:a16="http://schemas.microsoft.com/office/drawing/2014/main" val="435629904"/>
                    </a:ext>
                  </a:extLst>
                </a:gridCol>
                <a:gridCol w="2212546">
                  <a:extLst>
                    <a:ext uri="{9D8B030D-6E8A-4147-A177-3AD203B41FA5}">
                      <a16:colId xmlns:a16="http://schemas.microsoft.com/office/drawing/2014/main" val="14814641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Pet_id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Date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Partner_ID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Created_at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Updated_at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711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交易</a:t>
                      </a: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寵物</a:t>
                      </a:r>
                      <a:r>
                        <a:rPr lang="en-US" altLang="zh-TW" dirty="0"/>
                        <a:t>ID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時間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對方暱稱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32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34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5414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F82A4B33-058F-F123-4960-FE0B13B7A7C1}"/>
              </a:ext>
            </a:extLst>
          </p:cNvPr>
          <p:cNvSpPr txBox="1"/>
          <p:nvPr/>
        </p:nvSpPr>
        <p:spPr>
          <a:xfrm>
            <a:off x="82520" y="1563804"/>
            <a:ext cx="4246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Society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603731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圖庫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圖庫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庫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211</TotalTime>
  <Words>1142</Words>
  <Application>Microsoft Office PowerPoint</Application>
  <PresentationFormat>寬螢幕</PresentationFormat>
  <Paragraphs>276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圖庫</vt:lpstr>
      <vt:lpstr>To-do list</vt:lpstr>
      <vt:lpstr>我們的解決方案：一個完整的照護生態系</vt:lpstr>
      <vt:lpstr>我們的解決方案：一個完整的照護生態系</vt:lpstr>
      <vt:lpstr>我們的解決方案：一個完整的照護生態系</vt:lpstr>
      <vt:lpstr>我們的解決方案：一個完整的照護生態系</vt:lpstr>
      <vt:lpstr>Rule: 自己建立規則檔案或者AI(AI 還不會做)</vt:lpstr>
      <vt:lpstr>YAML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Wang</dc:creator>
  <cp:lastModifiedBy>Joseph Wang</cp:lastModifiedBy>
  <cp:revision>1</cp:revision>
  <dcterms:created xsi:type="dcterms:W3CDTF">2025-09-24T10:29:04Z</dcterms:created>
  <dcterms:modified xsi:type="dcterms:W3CDTF">2025-09-24T14:00:20Z</dcterms:modified>
</cp:coreProperties>
</file>